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jPx39fTB3fkKUJG+GjigKJDuf/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68FD42-1494-48CA-82DF-4131873CD06C}">
  <a:tblStyle styleId="{4F68FD42-1494-48CA-82DF-4131873CD06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CF5FB"/>
          </a:solidFill>
        </a:fill>
      </a:tcStyle>
    </a:wholeTbl>
    <a:band1H>
      <a:tcTxStyle/>
      <a:tcStyle>
        <a:fill>
          <a:solidFill>
            <a:srgbClr val="D8ECF7"/>
          </a:solidFill>
        </a:fill>
      </a:tcStyle>
    </a:band1H>
    <a:band2H>
      <a:tcTxStyle/>
    </a:band2H>
    <a:band1V>
      <a:tcTxStyle/>
      <a:tcStyle>
        <a:fill>
          <a:solidFill>
            <a:srgbClr val="D8ECF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ctrTitle"/>
          </p:nvPr>
        </p:nvSpPr>
        <p:spPr>
          <a:xfrm>
            <a:off x="371475" y="2514599"/>
            <a:ext cx="11449049" cy="9953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" type="subTitle"/>
          </p:nvPr>
        </p:nvSpPr>
        <p:spPr>
          <a:xfrm>
            <a:off x="1330570" y="3610831"/>
            <a:ext cx="9144000" cy="46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/>
          <p:nvPr>
            <p:ph type="title"/>
          </p:nvPr>
        </p:nvSpPr>
        <p:spPr>
          <a:xfrm>
            <a:off x="371475" y="365125"/>
            <a:ext cx="1144904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" type="body"/>
          </p:nvPr>
        </p:nvSpPr>
        <p:spPr>
          <a:xfrm>
            <a:off x="371475" y="1825625"/>
            <a:ext cx="1144904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2" name="Google Shape;4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CB1"/>
              </a:buClr>
              <a:buSzPts val="2400"/>
              <a:buNone/>
              <a:defRPr sz="2400">
                <a:solidFill>
                  <a:srgbClr val="757CB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CB1"/>
              </a:buClr>
              <a:buSzPts val="2000"/>
              <a:buNone/>
              <a:defRPr sz="2000">
                <a:solidFill>
                  <a:srgbClr val="757CB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CB1"/>
              </a:buClr>
              <a:buSzPts val="1800"/>
              <a:buNone/>
              <a:defRPr sz="1800">
                <a:solidFill>
                  <a:srgbClr val="757CB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CB1"/>
              </a:buClr>
              <a:buSzPts val="1600"/>
              <a:buNone/>
              <a:defRPr sz="1600">
                <a:solidFill>
                  <a:srgbClr val="757CB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CB1"/>
              </a:buClr>
              <a:buSzPts val="1600"/>
              <a:buNone/>
              <a:defRPr sz="1600">
                <a:solidFill>
                  <a:srgbClr val="757CB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CB1"/>
              </a:buClr>
              <a:buSzPts val="1600"/>
              <a:buNone/>
              <a:defRPr sz="1600">
                <a:solidFill>
                  <a:srgbClr val="757CB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CB1"/>
              </a:buClr>
              <a:buSzPts val="1600"/>
              <a:buNone/>
              <a:defRPr sz="1600">
                <a:solidFill>
                  <a:srgbClr val="757CB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CB1"/>
              </a:buClr>
              <a:buSzPts val="1600"/>
              <a:buNone/>
              <a:defRPr sz="1600">
                <a:solidFill>
                  <a:srgbClr val="757CB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CB1"/>
              </a:buClr>
              <a:buSzPts val="1600"/>
              <a:buNone/>
              <a:defRPr sz="1600">
                <a:solidFill>
                  <a:srgbClr val="757CB1"/>
                </a:solidFill>
              </a:defRPr>
            </a:lvl9pPr>
          </a:lstStyle>
          <a:p/>
        </p:txBody>
      </p:sp>
      <p:sp>
        <p:nvSpPr>
          <p:cNvPr id="48" name="Google Shape;4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3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3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CB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CB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CB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CB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CB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CB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CB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CB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CB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CB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CB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0">
          <p15:clr>
            <a:srgbClr val="F26B43"/>
          </p15:clr>
        </p15:guide>
        <p15:guide id="2" pos="234">
          <p15:clr>
            <a:srgbClr val="F26B43"/>
          </p15:clr>
        </p15:guide>
        <p15:guide id="3" pos="7446">
          <p15:clr>
            <a:srgbClr val="F26B43"/>
          </p15:clr>
        </p15:guide>
        <p15:guide id="4" orient="horz" pos="411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penaq.org/" TargetMode="External"/><Relationship Id="rId4" Type="http://schemas.openxmlformats.org/officeDocument/2006/relationships/hyperlink" Target="https://cpcb.nic.in/uploads/National_Ambient_Air_Quality_Standards.pdf" TargetMode="External"/><Relationship Id="rId9" Type="http://schemas.openxmlformats.org/officeDocument/2006/relationships/hyperlink" Target="https://www.bcg.com/publications" TargetMode="External"/><Relationship Id="rId5" Type="http://schemas.openxmlformats.org/officeDocument/2006/relationships/hyperlink" Target="https://www.who.int/publications/i/item/9789240034228" TargetMode="External"/><Relationship Id="rId6" Type="http://schemas.openxmlformats.org/officeDocument/2006/relationships/hyperlink" Target="https://www.oecd.org/" TargetMode="External"/><Relationship Id="rId7" Type="http://schemas.openxmlformats.org/officeDocument/2006/relationships/hyperlink" Target="https://firms.modaps.eosdis.nasa.gov/" TargetMode="External"/><Relationship Id="rId8" Type="http://schemas.openxmlformats.org/officeDocument/2006/relationships/hyperlink" Target="https://www.mckinsey.com/capabilities/operations/our-insights/digital-twin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hyperlink" Target="https://healthpolicy-watch.news/oda-fossil-fuel-2023-surge/?utm_source=chatgpt.com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arge stone arch in the middle of a road with India Gate in the background&#10;&#10;AI-generated content may be incorrect." id="93" name="Google Shape;93;p1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0" y="-75413"/>
            <a:ext cx="12192000" cy="6933412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reflection blurRad="0" dir="0" dist="0" endA="0" endPos="65000" kx="0" rotWithShape="0" algn="bl" stA="0" stPos="0" sy="-100000" ky="0"/>
          </a:effectLst>
        </p:spPr>
      </p:pic>
      <p:sp>
        <p:nvSpPr>
          <p:cNvPr id="94" name="Google Shape;94;p1"/>
          <p:cNvSpPr txBox="1"/>
          <p:nvPr>
            <p:ph type="ctrTitle"/>
          </p:nvPr>
        </p:nvSpPr>
        <p:spPr>
          <a:xfrm>
            <a:off x="178044" y="2106546"/>
            <a:ext cx="11449049" cy="9953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IN" sz="5400">
                <a:solidFill>
                  <a:schemeClr val="lt1"/>
                </a:solidFill>
              </a:rPr>
              <a:t>CLEAN–AIR OS</a:t>
            </a:r>
            <a:endParaRPr/>
          </a:p>
        </p:txBody>
      </p:sp>
      <p:sp>
        <p:nvSpPr>
          <p:cNvPr id="95" name="Google Shape;95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3A3A3A"/>
                </a:solidFill>
              </a:rPr>
              <a:t>Prepared by: Aditya Shroff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2030672" y="3858462"/>
            <a:ext cx="789462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Delhi’s air crisis is a coordination and execution problem — not a data problem.</a:t>
            </a:r>
            <a:endParaRPr b="1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1524000" y="3198996"/>
            <a:ext cx="9144000" cy="73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IN" sz="8000">
                <a:solidFill>
                  <a:schemeClr val="lt1"/>
                </a:solidFill>
              </a:rPr>
              <a:t>ENABALING “RIGHT TO BREATHE FOR EVERY CITIZEN OF OUR COUNTRY”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IN" sz="8000">
                <a:solidFill>
                  <a:schemeClr val="lt1"/>
                </a:solidFill>
              </a:rPr>
              <a:t>A Data-Driven Governance Framework for Delhi’s Air Quality </a:t>
            </a:r>
            <a:r>
              <a:rPr b="1" lang="en-IN" sz="9600">
                <a:solidFill>
                  <a:schemeClr val="lt1"/>
                </a:solidFill>
              </a:rPr>
              <a:t>Transformation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371475" y="333375"/>
            <a:ext cx="11449050" cy="778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IN" sz="4000"/>
              <a:t>Executive Summary</a:t>
            </a:r>
            <a:endParaRPr/>
          </a:p>
        </p:txBody>
      </p:sp>
      <p:grpSp>
        <p:nvGrpSpPr>
          <p:cNvPr id="103" name="Google Shape;103;p2"/>
          <p:cNvGrpSpPr/>
          <p:nvPr/>
        </p:nvGrpSpPr>
        <p:grpSpPr>
          <a:xfrm>
            <a:off x="1382017" y="1728455"/>
            <a:ext cx="9880977" cy="4554870"/>
            <a:chOff x="1207" y="-1"/>
            <a:chExt cx="9880977" cy="4554870"/>
          </a:xfrm>
        </p:grpSpPr>
        <p:sp>
          <p:nvSpPr>
            <p:cNvPr id="104" name="Google Shape;104;p2"/>
            <p:cNvSpPr/>
            <p:nvPr/>
          </p:nvSpPr>
          <p:spPr>
            <a:xfrm rot="-5400000">
              <a:off x="-707819" y="709025"/>
              <a:ext cx="4554870" cy="3136818"/>
            </a:xfrm>
            <a:prstGeom prst="flowChartManualOperation">
              <a:avLst/>
            </a:prstGeom>
            <a:solidFill>
              <a:schemeClr val="dk1"/>
            </a:solidFill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1207" y="910973"/>
              <a:ext cx="3136818" cy="27329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09550" spcFirstLastPara="1" rIns="2115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alibri"/>
                <a:buNone/>
              </a:pPr>
              <a:r>
                <a:t/>
              </a:r>
              <a:endPara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100000"/>
                </a:lnSpc>
                <a:spcBef>
                  <a:spcPts val="1155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Char char="•"/>
              </a:pPr>
              <a:r>
                <a:rPr b="1" i="0" lang="en-IN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Fragmented data</a:t>
              </a:r>
              <a:r>
                <a:rPr b="0" i="0" lang="en-IN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&amp; unclear ownership</a:t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 rot="-5400000">
              <a:off x="2684356" y="709025"/>
              <a:ext cx="4554870" cy="3136818"/>
            </a:xfrm>
            <a:prstGeom prst="flowChartManualOperation">
              <a:avLst/>
            </a:prstGeom>
            <a:solidFill>
              <a:schemeClr val="dk1"/>
            </a:solidFill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3393382" y="910973"/>
              <a:ext cx="3136818" cy="27329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09550" spcFirstLastPara="1" rIns="2115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alibri"/>
                <a:buNone/>
              </a:pPr>
              <a:r>
                <a:t/>
              </a:r>
              <a:endPara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100000"/>
                </a:lnSpc>
                <a:spcBef>
                  <a:spcPts val="1155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Char char="•"/>
              </a:pPr>
              <a:r>
                <a:rPr b="1" i="0" lang="en-IN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One focused Operating System </a:t>
              </a:r>
              <a:r>
                <a:rPr b="0" i="0" lang="en-IN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(data → triggers → owners)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 rot="-5400000">
              <a:off x="6036340" y="709025"/>
              <a:ext cx="4554870" cy="3136818"/>
            </a:xfrm>
            <a:prstGeom prst="flowChartManualOperation">
              <a:avLst/>
            </a:prstGeom>
            <a:solidFill>
              <a:schemeClr val="dk1"/>
            </a:solidFill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6745366" y="910973"/>
              <a:ext cx="3136818" cy="27329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09550" spcFirstLastPara="1" rIns="2115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alibri"/>
                <a:buNone/>
              </a:pPr>
              <a:r>
                <a:t/>
              </a:r>
              <a:endPara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100000"/>
                </a:lnSpc>
                <a:spcBef>
                  <a:spcPts val="1155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Char char="•"/>
              </a:pPr>
              <a:r>
                <a:rPr b="1" i="0" lang="en-IN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CLEAN–AIR OS </a:t>
              </a:r>
              <a:r>
                <a:rPr b="0" i="0" lang="en-IN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playbook scaled from Ward → City → State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2"/>
          <p:cNvSpPr txBox="1"/>
          <p:nvPr>
            <p:ph idx="11" type="ftr"/>
          </p:nvPr>
        </p:nvSpPr>
        <p:spPr>
          <a:xfrm>
            <a:off x="4125686" y="6475557"/>
            <a:ext cx="4114800" cy="423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solidFill>
                  <a:srgbClr val="FFFFFF"/>
                </a:solidFill>
              </a:rPr>
              <a:t>Prepared by: Aditya Shroff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807563" y="1274515"/>
            <a:ext cx="1941922" cy="815391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Air quality data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(DPCC / CPCB)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720445" y="1274515"/>
            <a:ext cx="1941922" cy="794933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Fire / Burn Data 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(FIRMS / SAFAR)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6686746" y="1300897"/>
            <a:ext cx="1941922" cy="794933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Weather Data</a:t>
            </a:r>
            <a:endParaRPr b="1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(IMD)</a:t>
            </a:r>
            <a:endParaRPr b="1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9343534" y="1300898"/>
            <a:ext cx="1941922" cy="794933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Traffic Emission 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(DTCP)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3"/>
          <p:cNvCxnSpPr/>
          <p:nvPr/>
        </p:nvCxnSpPr>
        <p:spPr>
          <a:xfrm>
            <a:off x="754144" y="2639506"/>
            <a:ext cx="1063343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" name="Google Shape;122;p3"/>
          <p:cNvCxnSpPr>
            <a:stCxn id="117" idx="2"/>
          </p:cNvCxnSpPr>
          <p:nvPr/>
        </p:nvCxnSpPr>
        <p:spPr>
          <a:xfrm>
            <a:off x="1778524" y="2089906"/>
            <a:ext cx="0" cy="543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3" name="Google Shape;123;p3"/>
          <p:cNvCxnSpPr/>
          <p:nvPr/>
        </p:nvCxnSpPr>
        <p:spPr>
          <a:xfrm>
            <a:off x="10314495" y="2069448"/>
            <a:ext cx="0" cy="54367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4" name="Google Shape;124;p3"/>
          <p:cNvCxnSpPr/>
          <p:nvPr/>
        </p:nvCxnSpPr>
        <p:spPr>
          <a:xfrm>
            <a:off x="7657707" y="2095832"/>
            <a:ext cx="0" cy="54367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5" name="Google Shape;125;p3"/>
          <p:cNvCxnSpPr/>
          <p:nvPr/>
        </p:nvCxnSpPr>
        <p:spPr>
          <a:xfrm>
            <a:off x="4696119" y="2069448"/>
            <a:ext cx="0" cy="54367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6" name="Google Shape;126;p3"/>
          <p:cNvSpPr txBox="1"/>
          <p:nvPr/>
        </p:nvSpPr>
        <p:spPr>
          <a:xfrm>
            <a:off x="4606563" y="2733054"/>
            <a:ext cx="3236538" cy="253916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05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|   |   |   |   |   |   |   |   |   G   A   P   |   |   |   |   |   |   |   |</a:t>
            </a:r>
            <a:r>
              <a:rPr b="0" i="0" lang="en-IN" sz="105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5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1676398" y="3016626"/>
            <a:ext cx="1941922" cy="794933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Delhi Government Departments 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(Environment, Transport)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8524973" y="3076337"/>
            <a:ext cx="1941922" cy="794933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Municipal Bodies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(MCD,NDMC,SDMC,EDMC)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5253871" y="3076339"/>
            <a:ext cx="1941922" cy="794933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Central Government Agencies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(MOEFCC)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3"/>
          <p:cNvCxnSpPr/>
          <p:nvPr/>
        </p:nvCxnSpPr>
        <p:spPr>
          <a:xfrm>
            <a:off x="832700" y="4281341"/>
            <a:ext cx="1063343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" name="Google Shape;131;p3"/>
          <p:cNvCxnSpPr>
            <a:stCxn id="127" idx="2"/>
          </p:cNvCxnSpPr>
          <p:nvPr/>
        </p:nvCxnSpPr>
        <p:spPr>
          <a:xfrm>
            <a:off x="2647359" y="3811559"/>
            <a:ext cx="0" cy="469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" name="Google Shape;132;p3"/>
          <p:cNvCxnSpPr/>
          <p:nvPr/>
        </p:nvCxnSpPr>
        <p:spPr>
          <a:xfrm>
            <a:off x="6224832" y="3871270"/>
            <a:ext cx="0" cy="41007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" name="Google Shape;133;p3"/>
          <p:cNvCxnSpPr/>
          <p:nvPr/>
        </p:nvCxnSpPr>
        <p:spPr>
          <a:xfrm>
            <a:off x="9516359" y="3871270"/>
            <a:ext cx="0" cy="41007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4" name="Google Shape;134;p3"/>
          <p:cNvSpPr txBox="1"/>
          <p:nvPr/>
        </p:nvSpPr>
        <p:spPr>
          <a:xfrm>
            <a:off x="4590539" y="4335614"/>
            <a:ext cx="3268579" cy="256850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5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|   |   |   |   |   |   |   |   |   G   A   P   |   |   |   |   |   |   |   |</a:t>
            </a:r>
            <a:r>
              <a:rPr lang="en-IN" sz="105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5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4757390" y="4792951"/>
            <a:ext cx="2934879" cy="794933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Dashboards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Shared Command Center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coordinated ‘detect+decide+act” system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3"/>
          <p:cNvCxnSpPr>
            <a:stCxn id="135" idx="2"/>
          </p:cNvCxnSpPr>
          <p:nvPr/>
        </p:nvCxnSpPr>
        <p:spPr>
          <a:xfrm>
            <a:off x="6224830" y="5587884"/>
            <a:ext cx="0" cy="457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7" name="Google Shape;137;p3"/>
          <p:cNvSpPr/>
          <p:nvPr/>
        </p:nvSpPr>
        <p:spPr>
          <a:xfrm>
            <a:off x="1291472" y="6045221"/>
            <a:ext cx="9841583" cy="365126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 : DELAYED RESPONSES , SILOED DECISION MAKING, WEAK EXECUTION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182939" y="321422"/>
            <a:ext cx="11449050" cy="778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IN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COORDINATION GAP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4041742" y="6502558"/>
            <a:ext cx="4114800" cy="423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200" u="none">
                <a:solidFill>
                  <a:srgbClr val="757CB1"/>
                </a:solidFill>
                <a:latin typeface="Calibri"/>
                <a:ea typeface="Calibri"/>
                <a:cs typeface="Calibri"/>
                <a:sym typeface="Calibri"/>
              </a:rPr>
              <a:t>Prepared by: Aditya Shroff</a:t>
            </a:r>
            <a:endParaRPr b="0" sz="1200" u="none">
              <a:solidFill>
                <a:srgbClr val="757CB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 txBox="1"/>
          <p:nvPr>
            <p:ph idx="11" type="ftr"/>
          </p:nvPr>
        </p:nvSpPr>
        <p:spPr>
          <a:xfrm>
            <a:off x="394190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150829" y="291543"/>
            <a:ext cx="11449050" cy="778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IN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OWNERSHIP GAP – CURRENT STATE - RACI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6" name="Google Shape;146;p4"/>
          <p:cNvGraphicFramePr/>
          <p:nvPr/>
        </p:nvGraphicFramePr>
        <p:xfrm>
          <a:off x="371475" y="14438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{4F68FD42-1494-48CA-82DF-4131873CD06C}</a:tableStyleId>
              </a:tblPr>
              <a:tblGrid>
                <a:gridCol w="3424475"/>
                <a:gridCol w="1655250"/>
                <a:gridCol w="540950"/>
                <a:gridCol w="815675"/>
                <a:gridCol w="1485300"/>
                <a:gridCol w="1155250"/>
                <a:gridCol w="1642600"/>
                <a:gridCol w="598250"/>
              </a:tblGrid>
              <a:tr h="491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IN" sz="1600" u="none" cap="none" strike="noStrike"/>
                        <a:t>Function / Task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IN" sz="1600" u="none" cap="none" strike="noStrike"/>
                        <a:t>Delhi Env Dept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IN" sz="1600" u="none" cap="none" strike="noStrike"/>
                        <a:t>DPCC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IN" sz="1600" u="none" cap="none" strike="noStrike"/>
                        <a:t>MCD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IN" sz="1600" u="none" cap="none" strike="noStrike"/>
                        <a:t>Transport Dept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IN" sz="1600" u="none" cap="none" strike="noStrike"/>
                        <a:t>Delhi Police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IN" sz="1600" u="none" cap="none" strike="noStrike"/>
                        <a:t>Industries Dept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IN" sz="1600" u="none" cap="none" strike="noStrike"/>
                        <a:t>CPCB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</a:tr>
              <a:tr h="34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IN" sz="1400" u="none" cap="none" strike="noStrike"/>
                        <a:t>Air-quality monitoring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A/R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</a:tr>
              <a:tr h="34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IN" sz="1400" u="none" cap="none" strike="noStrike"/>
                        <a:t>Construction dust control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R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</a:tr>
              <a:tr h="34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IN" sz="1400" u="none" cap="none" strike="noStrike"/>
                        <a:t>Road dust &amp; sweeping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R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</a:tr>
              <a:tr h="34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IN" sz="1400" u="none" cap="none" strike="noStrike"/>
                        <a:t>Traffic emission control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A/R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R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</a:tr>
              <a:tr h="34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IN" sz="1400" u="none" cap="none" strike="noStrike"/>
                        <a:t>Industrial emissions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R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R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</a:tr>
              <a:tr h="34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IN" sz="1400" u="none" cap="none" strike="noStrike"/>
                        <a:t>Waste burning enforcement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R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R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</a:tr>
              <a:tr h="34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IN" sz="1400" u="none" cap="none" strike="noStrike"/>
                        <a:t>Stubble burning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</a:tr>
              <a:tr h="34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IN" sz="1400" u="none" cap="none" strike="noStrike"/>
                        <a:t>Public alerts &amp; communication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A/R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</a:tr>
              <a:tr h="34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IN" sz="1400" u="none" cap="none" strike="noStrike"/>
                        <a:t>Emergency response (GRAP)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R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</a:tr>
              <a:tr h="34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IN" sz="1400" u="none" cap="none" strike="noStrike"/>
                        <a:t>Cross-state coordination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R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</a:tr>
              <a:tr h="34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IN" sz="1400" u="none" cap="none" strike="noStrike"/>
                        <a:t>Forecasting &amp; meteorology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R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</a:tr>
              <a:tr h="34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IN" sz="1400" u="none" cap="none" strike="noStrike"/>
                        <a:t>Compliance verification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I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R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 txBox="1"/>
          <p:nvPr>
            <p:ph idx="11" type="ftr"/>
          </p:nvPr>
        </p:nvSpPr>
        <p:spPr>
          <a:xfrm>
            <a:off x="3878560" y="649417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9183211" y="1184387"/>
            <a:ext cx="10935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2923597" y="4484855"/>
            <a:ext cx="5069763" cy="1875934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b="1" lang="en-IN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Meteorology amplifies pollution episodes but does not create them</a:t>
            </a:r>
            <a:endParaRPr/>
          </a:p>
          <a:p>
            <a:pPr indent="-285750" lvl="0" marL="2857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b="1" lang="en-IN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Emission load is so high that even “good” weather cannot clean Delhi’s air.</a:t>
            </a:r>
            <a:endParaRPr/>
          </a:p>
          <a:p>
            <a:pPr indent="-285750" lvl="0" marL="2857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b="1" lang="en-IN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Delhi’s worst pollution events are multi-factor shocks, where meteorology amplifies emissions, not vice-versa.</a:t>
            </a:r>
            <a:endParaRPr b="1"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8169829" y="1559992"/>
            <a:ext cx="3120272" cy="3554819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rgbClr val="0015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b="1" lang="en-IN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PM₂.₅ spikes consistently occur during low wind “stagnation weeks,” confirming wind speed as the strongest short-term driver of pollution build-up.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b="1" lang="en-IN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 during sustained high-wind periods, PM₂.₅ rarely falls below India’s standard, indicating a strong structural emissions baseline.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b="1" lang="en-IN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October–November PM₂.₅ explosion shows a meteorology–emissions compounding effect, not just weather-induced trapping.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801063" y="5215770"/>
            <a:ext cx="2122534" cy="414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800"/>
              <a:buFont typeface="Arial"/>
              <a:buNone/>
            </a:pPr>
            <a:r>
              <a:rPr b="1" lang="en-IN" sz="1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INTERPRETATION 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226979" y="377669"/>
            <a:ext cx="114490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“DELHI” : THE UNDER PRIVILEGED GUY WHO GETS EXPOSED BY WIND</a:t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aph with orange and blue lines&#10;&#10;AI-generated content may be incorrect." id="158" name="Google Shape;1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194" y="1001176"/>
            <a:ext cx="7503166" cy="3310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FCFE"/>
            </a:gs>
            <a:gs pos="74000">
              <a:srgbClr val="C5E6F6"/>
            </a:gs>
            <a:gs pos="83000">
              <a:srgbClr val="C5E6F6"/>
            </a:gs>
            <a:gs pos="100000">
              <a:srgbClr val="D9EEF8"/>
            </a:gs>
          </a:gsLst>
          <a:lin ang="5400000" scaled="0"/>
        </a:gra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 txBox="1"/>
          <p:nvPr>
            <p:ph idx="11" type="ftr"/>
          </p:nvPr>
        </p:nvSpPr>
        <p:spPr>
          <a:xfrm>
            <a:off x="4007050" y="655076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226979" y="377669"/>
            <a:ext cx="114490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DOES DELHI NEEDS : ABILITY TO THINK!!!</a:t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984769" y="4102078"/>
            <a:ext cx="9620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endParaRPr/>
          </a:p>
        </p:txBody>
      </p:sp>
      <p:sp>
        <p:nvSpPr>
          <p:cNvPr id="166" name="Google Shape;166;p6"/>
          <p:cNvSpPr txBox="1"/>
          <p:nvPr/>
        </p:nvSpPr>
        <p:spPr>
          <a:xfrm>
            <a:off x="3413007" y="6155293"/>
            <a:ext cx="5762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8090299" y="2687339"/>
            <a:ext cx="6762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FUSE</a:t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10186356" y="4282550"/>
            <a:ext cx="14097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DIAGNOSE</a:t>
            </a:r>
            <a:endParaRPr/>
          </a:p>
        </p:txBody>
      </p:sp>
      <p:sp>
        <p:nvSpPr>
          <p:cNvPr id="169" name="Google Shape;169;p6"/>
          <p:cNvSpPr txBox="1"/>
          <p:nvPr/>
        </p:nvSpPr>
        <p:spPr>
          <a:xfrm>
            <a:off x="7417084" y="6110999"/>
            <a:ext cx="9620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DECIDE</a:t>
            </a:r>
            <a:endParaRPr/>
          </a:p>
        </p:txBody>
      </p:sp>
      <p:pic>
        <p:nvPicPr>
          <p:cNvPr descr="Lightbulb" id="170" name="Google Shape;1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1212" y="1175232"/>
            <a:ext cx="1314451" cy="12947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dical cross" id="171" name="Google Shape;17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50737" y="2894051"/>
            <a:ext cx="1301782" cy="13884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in In Head"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1283" y="4769726"/>
            <a:ext cx="1217155" cy="1369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losed hand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82666" y="4921732"/>
            <a:ext cx="1636946" cy="12172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ok" id="174" name="Google Shape;17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9329" y="2894051"/>
            <a:ext cx="1706708" cy="1208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tor" id="175" name="Google Shape;17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91209" y="1230928"/>
            <a:ext cx="732756" cy="129478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 txBox="1"/>
          <p:nvPr/>
        </p:nvSpPr>
        <p:spPr>
          <a:xfrm>
            <a:off x="3139677" y="2525710"/>
            <a:ext cx="9620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</a:t>
            </a:r>
            <a:endParaRPr/>
          </a:p>
        </p:txBody>
      </p:sp>
      <p:pic>
        <p:nvPicPr>
          <p:cNvPr descr="Bridge" id="177" name="Google Shape;177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38600" y="3112366"/>
            <a:ext cx="4051700" cy="91110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 txBox="1"/>
          <p:nvPr/>
        </p:nvSpPr>
        <p:spPr>
          <a:xfrm>
            <a:off x="4242062" y="4102078"/>
            <a:ext cx="36198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1" lang="en-IN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CENTRAL </a:t>
            </a: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 </a:t>
            </a:r>
            <a:r>
              <a:rPr b="1" lang="en-IN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CENTER IS </a:t>
            </a:r>
            <a:r>
              <a:rPr b="1" lang="en-IN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BRIDGE </a:t>
            </a:r>
            <a:r>
              <a:rPr b="1" lang="en-IN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THE GAP”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/>
          <p:nvPr>
            <p:ph idx="11" type="ftr"/>
          </p:nvPr>
        </p:nvSpPr>
        <p:spPr>
          <a:xfrm>
            <a:off x="4038600" y="645659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sp>
        <p:nvSpPr>
          <p:cNvPr id="184" name="Google Shape;184;p7"/>
          <p:cNvSpPr txBox="1"/>
          <p:nvPr/>
        </p:nvSpPr>
        <p:spPr>
          <a:xfrm>
            <a:off x="371475" y="333375"/>
            <a:ext cx="114490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“NEW DELHI” – The Future Governance Stack  </a:t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4289194" y="1847638"/>
            <a:ext cx="3289955" cy="1227695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ctr" dir="5400000" dist="508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Policy Mandates + Annual targets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Emergency protocols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 agency role ownership distribution roadmap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Citizen Protection Guidelines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Compliance Frameworks  </a:t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4289192" y="3586134"/>
            <a:ext cx="3289955" cy="91574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ctr" dir="5400000" dist="508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2672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rgbClr val="002672"/>
                </a:solidFill>
                <a:latin typeface="Calibri"/>
                <a:ea typeface="Calibri"/>
                <a:cs typeface="Calibri"/>
                <a:sym typeface="Calibri"/>
              </a:rPr>
              <a:t>Escalation Matrix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2672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rgbClr val="002672"/>
                </a:solidFill>
                <a:latin typeface="Calibri"/>
                <a:ea typeface="Calibri"/>
                <a:cs typeface="Calibri"/>
                <a:sym typeface="Calibri"/>
              </a:rPr>
              <a:t>SLA based response timelines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2672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rgbClr val="002672"/>
                </a:solidFill>
                <a:latin typeface="Calibri"/>
                <a:ea typeface="Calibri"/>
                <a:cs typeface="Calibri"/>
                <a:sym typeface="Calibri"/>
              </a:rPr>
              <a:t>Integrates (Traffic, DPCC, (industrial violations), Municipal Bodies, PWD, Fire</a:t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4289192" y="5081211"/>
            <a:ext cx="3289955" cy="79185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97D4D"/>
              </a:gs>
              <a:gs pos="50000">
                <a:srgbClr val="136F20"/>
              </a:gs>
              <a:gs pos="100000">
                <a:srgbClr val="0D6419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War level Dashboards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Central Command Centre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Triggered Interventions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Feedback</a:t>
            </a:r>
            <a:endParaRPr/>
          </a:p>
        </p:txBody>
      </p:sp>
      <p:sp>
        <p:nvSpPr>
          <p:cNvPr id="188" name="Google Shape;188;p7"/>
          <p:cNvSpPr txBox="1"/>
          <p:nvPr/>
        </p:nvSpPr>
        <p:spPr>
          <a:xfrm>
            <a:off x="4484801" y="1441955"/>
            <a:ext cx="2790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 LAYER</a:t>
            </a:r>
            <a:endParaRPr/>
          </a:p>
        </p:txBody>
      </p:sp>
      <p:sp>
        <p:nvSpPr>
          <p:cNvPr id="189" name="Google Shape;189;p7"/>
          <p:cNvSpPr txBox="1"/>
          <p:nvPr/>
        </p:nvSpPr>
        <p:spPr>
          <a:xfrm>
            <a:off x="3927839" y="3221960"/>
            <a:ext cx="421378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OPERATIONAL GOVERNANCE LAYER</a:t>
            </a:r>
            <a:endParaRPr/>
          </a:p>
        </p:txBody>
      </p:sp>
      <p:sp>
        <p:nvSpPr>
          <p:cNvPr id="190" name="Google Shape;190;p7"/>
          <p:cNvSpPr txBox="1"/>
          <p:nvPr/>
        </p:nvSpPr>
        <p:spPr>
          <a:xfrm>
            <a:off x="3881098" y="4723082"/>
            <a:ext cx="399774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LAYER</a:t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3629320" y="2427425"/>
            <a:ext cx="659872" cy="1663808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dk1"/>
          </a:solidFill>
          <a:ln cap="flat" cmpd="sng" w="19050">
            <a:solidFill>
              <a:srgbClr val="0015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3581407" y="4091233"/>
            <a:ext cx="659872" cy="1663808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dk1"/>
          </a:solidFill>
          <a:ln cap="flat" cmpd="sng" w="19050">
            <a:solidFill>
              <a:srgbClr val="0015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 flipH="1" rot="10800000">
            <a:off x="7579147" y="3870030"/>
            <a:ext cx="659872" cy="1539104"/>
          </a:xfrm>
          <a:prstGeom prst="curvedLeftArrow">
            <a:avLst>
              <a:gd fmla="val 25000" name="adj1"/>
              <a:gd fmla="val 50000" name="adj2"/>
              <a:gd fmla="val 28135" name="adj3"/>
            </a:avLst>
          </a:prstGeom>
          <a:solidFill>
            <a:schemeClr val="dk1"/>
          </a:solidFill>
          <a:ln cap="flat" cmpd="sng" w="19050">
            <a:solidFill>
              <a:srgbClr val="0015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 flipH="1" rot="10800000">
            <a:off x="7579147" y="2330926"/>
            <a:ext cx="659872" cy="1539104"/>
          </a:xfrm>
          <a:prstGeom prst="curvedLeftArrow">
            <a:avLst>
              <a:gd fmla="val 25000" name="adj1"/>
              <a:gd fmla="val 50000" name="adj2"/>
              <a:gd fmla="val 28135" name="adj3"/>
            </a:avLst>
          </a:prstGeom>
          <a:solidFill>
            <a:schemeClr val="dk1"/>
          </a:solidFill>
          <a:ln cap="flat" cmpd="sng" w="19050">
            <a:solidFill>
              <a:srgbClr val="0015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8493542" y="1307973"/>
            <a:ext cx="3035430" cy="1913987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accent1"/>
          </a:solidFill>
          <a:ln cap="flat" cmpd="sng" w="19050">
            <a:solidFill>
              <a:srgbClr val="00154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28600" rotWithShape="0" algn="ctr" dir="5400000" dist="508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12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When policy, operations, and data work together, India’s biggest environmental problems becomes easy to solve</a:t>
            </a:r>
            <a:endParaRPr b="1" i="1" sz="1200">
              <a:solidFill>
                <a:srgbClr val="1717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371475" y="333375"/>
            <a:ext cx="1144905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SOURCES </a:t>
            </a:r>
            <a:endParaRPr/>
          </a:p>
        </p:txBody>
      </p:sp>
      <p:sp>
        <p:nvSpPr>
          <p:cNvPr id="202" name="Google Shape;202;p8"/>
          <p:cNvSpPr txBox="1"/>
          <p:nvPr/>
        </p:nvSpPr>
        <p:spPr>
          <a:xfrm>
            <a:off x="605673" y="1359704"/>
            <a:ext cx="11214852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OpenAQI India Dataset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Delhi PM₂.₅ daily/hourly data (2020–2025) </a:t>
            </a:r>
            <a:r>
              <a:rPr i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OpenAQ API; accessed 2024–2025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https://openaq.org/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CPCB / DPCC Continuous Monitoring Stations (Delhi)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Official government monitors; ITO, Anand Vihar, RK Puram etc.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https://app.cpcbccr.com/ccr/#/caaqm-dashboard-all/caaqm-landing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Government of India – National Air Quality Standards (NAAQS) </a:t>
            </a:r>
            <a:r>
              <a:rPr i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 Pollution Control Board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https://cpcb.nic.in/uploads/National_Ambient_Air_Quality_Standards.pdf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Global Air Quality Guideline (PM₂.₅ = 15 μg/m³ annual) </a:t>
            </a:r>
            <a:r>
              <a:rPr i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World Health Organization, 2021 update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https://www.who.int/publications/i/item/9789240034228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OECD – Economic Consequences of Outdoor Air Pollution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https://www.oecd.org/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NASA FIRMS METEORLOGY  - </a:t>
            </a:r>
            <a:r>
              <a:rPr lang="en-IN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https://firms.modaps.eosdis.nasa.gov/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McKinsey – Digital Twins in Operations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https://www.mckinsey.com/capabilities/operations/our-insights/digital-twins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BCG – Smart Cities &amp; Air Quality Governance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https://www.bcg.com/publications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/>
          <p:nvPr>
            <p:ph idx="11" type="ftr"/>
          </p:nvPr>
        </p:nvSpPr>
        <p:spPr>
          <a:xfrm>
            <a:off x="3887771" y="653891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371475" y="347662"/>
            <a:ext cx="11449050" cy="6191250"/>
          </a:xfrm>
          <a:prstGeom prst="rect">
            <a:avLst/>
          </a:prstGeom>
          <a:solidFill>
            <a:srgbClr val="E5F4FB"/>
          </a:solidFill>
          <a:ln cap="flat" cmpd="sng" w="19050">
            <a:solidFill>
              <a:srgbClr val="0015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3022862" y="1996450"/>
            <a:ext cx="5995447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8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 </a:t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3022861" y="3538112"/>
            <a:ext cx="599544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I’d Love to connect if you have the ability to move systems.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371475" y="5525353"/>
            <a:ext cx="115345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ADITYA SHROFF | + 1 (437)–663 4453 |</a:t>
            </a:r>
            <a:r>
              <a:rPr b="1" lang="en-IN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IN" sz="1800" u="sng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IN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9372107" y="2049413"/>
            <a:ext cx="1480009" cy="895547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Unified timeseries tables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Spatial layers &amp; metadata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Golden record for air-quality</a:t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9401128" y="3593757"/>
            <a:ext cx="1480009" cy="955959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Nowcast &amp; 24–72h toxic-day risk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Source fingerprints &amp; clusters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Hotspot maps &amp; levers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Alert thresholds &amp; SLAs</a:t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1232977" y="1334535"/>
            <a:ext cx="1721758" cy="399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AND EDGE</a:t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4516947" y="1286483"/>
            <a:ext cx="2945762" cy="495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CONNECTIVITY AND DATA INGESTION</a:t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8656572" y="1286483"/>
            <a:ext cx="2911078" cy="425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ANALYTICS AND GOVERNANCE</a:t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1146992" y="2010062"/>
            <a:ext cx="1807747" cy="1261623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Roadside AQ (PM₂.₅ / NOₓ / CO)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Traffic &amp; congestion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Construction dust &amp; noise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Industrial &amp; DG stacks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Waste-burning cameras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Met masts, satellite fire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Citizen &amp; ward app reports</a:t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1436910" y="1606731"/>
            <a:ext cx="1227910" cy="531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Sensor Feed</a:t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1146988" y="4318527"/>
            <a:ext cx="1807747" cy="82832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</a:pPr>
            <a:r>
              <a:rPr b="1"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Convert MODBUS / BACnet / analog → MQTT / OPC-UA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</a:pPr>
            <a:r>
              <a:rPr b="1"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Local buffering &amp; simple rules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</a:pPr>
            <a:r>
              <a:rPr b="1"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Secure VPN to city cloud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283238" y="3926779"/>
            <a:ext cx="1535249" cy="477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Ward/Edge Gateway</a:t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5009238" y="2043277"/>
            <a:ext cx="1807747" cy="88952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Device identity &amp; certificates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Onboarding &amp; health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Command / control channel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5299162" y="1606731"/>
            <a:ext cx="1227910" cy="531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IOT HUB</a:t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5009238" y="3785374"/>
            <a:ext cx="1807747" cy="583313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High-volume event streams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Multiple consumers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Replay &amp; durable log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5214840" y="3378300"/>
            <a:ext cx="1227910" cy="531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Kafka (RTS)</a:t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935804" y="5123743"/>
            <a:ext cx="1900644" cy="895547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Hourly/daily dumps    (S3,blobs)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Govt portals, inventories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Vendor / OpenAQ APIs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5039215" y="4662606"/>
            <a:ext cx="1693822" cy="531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Batch and API Ingestion</a:t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9265201" y="1608827"/>
            <a:ext cx="1693822" cy="531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City Data Lakehouse</a:t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9294220" y="3111728"/>
            <a:ext cx="1693822" cy="531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Analytics Brain</a:t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9401128" y="5044230"/>
            <a:ext cx="1480009" cy="867078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</a:pPr>
            <a:r>
              <a:rPr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City and Ward Command Rooms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</a:pPr>
            <a:r>
              <a:rPr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Action Agencies (public private partnership)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</a:pPr>
            <a:r>
              <a:rPr lang="en-I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Apps and Dashboards</a:t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9294220" y="4646537"/>
            <a:ext cx="1693822" cy="531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 </a:t>
            </a:r>
            <a:endParaRPr/>
          </a:p>
        </p:txBody>
      </p:sp>
      <p:cxnSp>
        <p:nvCxnSpPr>
          <p:cNvPr id="236" name="Google Shape;236;p10"/>
          <p:cNvCxnSpPr>
            <a:stCxn id="222" idx="2"/>
          </p:cNvCxnSpPr>
          <p:nvPr/>
        </p:nvCxnSpPr>
        <p:spPr>
          <a:xfrm>
            <a:off x="2050866" y="3271685"/>
            <a:ext cx="0" cy="828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7" name="Google Shape;237;p10"/>
          <p:cNvCxnSpPr>
            <a:stCxn id="224" idx="3"/>
            <a:endCxn id="226" idx="1"/>
          </p:cNvCxnSpPr>
          <p:nvPr/>
        </p:nvCxnSpPr>
        <p:spPr>
          <a:xfrm flipH="1" rot="10800000">
            <a:off x="2954735" y="2488089"/>
            <a:ext cx="2054400" cy="2244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8" name="Google Shape;238;p10"/>
          <p:cNvCxnSpPr>
            <a:stCxn id="222" idx="3"/>
            <a:endCxn id="226" idx="1"/>
          </p:cNvCxnSpPr>
          <p:nvPr/>
        </p:nvCxnSpPr>
        <p:spPr>
          <a:xfrm flipH="1" rot="10800000">
            <a:off x="2954739" y="2488174"/>
            <a:ext cx="2054400" cy="152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9" name="Google Shape;239;p10"/>
          <p:cNvCxnSpPr/>
          <p:nvPr/>
        </p:nvCxnSpPr>
        <p:spPr>
          <a:xfrm flipH="1">
            <a:off x="5822846" y="2912232"/>
            <a:ext cx="1" cy="60680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0" name="Google Shape;240;p10"/>
          <p:cNvCxnSpPr/>
          <p:nvPr/>
        </p:nvCxnSpPr>
        <p:spPr>
          <a:xfrm flipH="1">
            <a:off x="5828795" y="4359205"/>
            <a:ext cx="1" cy="47061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1" name="Google Shape;241;p10"/>
          <p:cNvCxnSpPr>
            <a:stCxn id="228" idx="3"/>
            <a:endCxn id="217" idx="1"/>
          </p:cNvCxnSpPr>
          <p:nvPr/>
        </p:nvCxnSpPr>
        <p:spPr>
          <a:xfrm flipH="1" rot="10800000">
            <a:off x="6816985" y="2497231"/>
            <a:ext cx="2555100" cy="1579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2" name="Google Shape;242;p10"/>
          <p:cNvCxnSpPr>
            <a:stCxn id="230" idx="3"/>
            <a:endCxn id="217" idx="1"/>
          </p:cNvCxnSpPr>
          <p:nvPr/>
        </p:nvCxnSpPr>
        <p:spPr>
          <a:xfrm flipH="1" rot="10800000">
            <a:off x="6836448" y="2497117"/>
            <a:ext cx="2535600" cy="307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3" name="Google Shape;243;p10"/>
          <p:cNvSpPr/>
          <p:nvPr/>
        </p:nvSpPr>
        <p:spPr>
          <a:xfrm>
            <a:off x="973958" y="1676399"/>
            <a:ext cx="2352319" cy="4585064"/>
          </a:xfrm>
          <a:prstGeom prst="rect">
            <a:avLst/>
          </a:prstGeom>
          <a:noFill/>
          <a:ln cap="flat" cmpd="sng" w="1905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794069" y="1676399"/>
            <a:ext cx="2257296" cy="4550230"/>
          </a:xfrm>
          <a:prstGeom prst="rect">
            <a:avLst/>
          </a:prstGeom>
          <a:noFill/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9044200" y="1641565"/>
            <a:ext cx="2068562" cy="4619898"/>
          </a:xfrm>
          <a:prstGeom prst="rect">
            <a:avLst/>
          </a:prstGeom>
          <a:noFill/>
          <a:ln cap="flat" cmpd="sng" w="1905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10"/>
          <p:cNvCxnSpPr>
            <a:stCxn id="217" idx="2"/>
          </p:cNvCxnSpPr>
          <p:nvPr/>
        </p:nvCxnSpPr>
        <p:spPr>
          <a:xfrm>
            <a:off x="10112112" y="2944960"/>
            <a:ext cx="0" cy="342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7" name="Google Shape;247;p10"/>
          <p:cNvCxnSpPr>
            <a:stCxn id="218" idx="2"/>
          </p:cNvCxnSpPr>
          <p:nvPr/>
        </p:nvCxnSpPr>
        <p:spPr>
          <a:xfrm>
            <a:off x="10141133" y="4549716"/>
            <a:ext cx="0" cy="280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8" name="Google Shape;248;p10"/>
          <p:cNvSpPr txBox="1"/>
          <p:nvPr/>
        </p:nvSpPr>
        <p:spPr>
          <a:xfrm>
            <a:off x="906788" y="402361"/>
            <a:ext cx="1037842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Exhibit - 3.1 : OS Architecture : From Sensors to Command Centre</a:t>
            </a:r>
            <a:endParaRPr/>
          </a:p>
        </p:txBody>
      </p:sp>
      <p:cxnSp>
        <p:nvCxnSpPr>
          <p:cNvPr id="249" name="Google Shape;249;p10"/>
          <p:cNvCxnSpPr>
            <a:stCxn id="234" idx="1"/>
            <a:endCxn id="226" idx="3"/>
          </p:cNvCxnSpPr>
          <p:nvPr/>
        </p:nvCxnSpPr>
        <p:spPr>
          <a:xfrm rot="10800000">
            <a:off x="6816928" y="2487969"/>
            <a:ext cx="2584200" cy="2989800"/>
          </a:xfrm>
          <a:prstGeom prst="straightConnector1">
            <a:avLst/>
          </a:prstGeom>
          <a:noFill/>
          <a:ln cap="flat" cmpd="sng" w="19050">
            <a:solidFill>
              <a:srgbClr val="002060"/>
            </a:solidFill>
            <a:prstDash val="lgDash"/>
            <a:miter lim="800000"/>
            <a:headEnd len="sm" w="sm" type="none"/>
            <a:tailEnd len="med" w="med" type="triangle"/>
          </a:ln>
        </p:spPr>
      </p:cxnSp>
      <p:sp>
        <p:nvSpPr>
          <p:cNvPr id="250" name="Google Shape;250;p10"/>
          <p:cNvSpPr/>
          <p:nvPr/>
        </p:nvSpPr>
        <p:spPr>
          <a:xfrm>
            <a:off x="8410922" y="2829758"/>
            <a:ext cx="582378" cy="3858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 time streams</a:t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7567782" y="4659274"/>
            <a:ext cx="582378" cy="31576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loads</a:t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8559197" y="3876469"/>
            <a:ext cx="582378" cy="31576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dk1"/>
          </a:solidFill>
          <a:ln cap="flat" cmpd="sng" w="19050">
            <a:solidFill>
              <a:srgbClr val="0015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Control Loop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sp>
        <p:nvSpPr>
          <p:cNvPr id="258" name="Google Shape;258;p11"/>
          <p:cNvSpPr txBox="1"/>
          <p:nvPr/>
        </p:nvSpPr>
        <p:spPr>
          <a:xfrm>
            <a:off x="371475" y="2798058"/>
            <a:ext cx="5724525" cy="1261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Delhi’s Air Quality Today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11"/>
          <p:cNvCxnSpPr/>
          <p:nvPr/>
        </p:nvCxnSpPr>
        <p:spPr>
          <a:xfrm>
            <a:off x="6127423" y="333375"/>
            <a:ext cx="0" cy="6205537"/>
          </a:xfrm>
          <a:prstGeom prst="straightConnector1">
            <a:avLst/>
          </a:prstGeom>
          <a:noFill/>
          <a:ln cap="flat" cmpd="sng" w="19050">
            <a:solidFill>
              <a:srgbClr val="7F7F7F">
                <a:alpha val="37647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erson in a blue shirt&#10;&#10;AI-generated content may be incorrect." id="260" name="Google Shape;26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2299" y="994494"/>
            <a:ext cx="3378365" cy="235369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261" name="Google Shape;261;p11"/>
          <p:cNvSpPr txBox="1"/>
          <p:nvPr/>
        </p:nvSpPr>
        <p:spPr>
          <a:xfrm>
            <a:off x="7402299" y="3741211"/>
            <a:ext cx="3378369" cy="1261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Bryan Jhonson, Tech Millionaire –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“The pollution levels were equivalent to smoking over one cigarette per day — it’s not just numbers; it’s earnestness for life expectancy”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"/>
          <p:cNvSpPr txBox="1"/>
          <p:nvPr>
            <p:ph type="title"/>
          </p:nvPr>
        </p:nvSpPr>
        <p:spPr>
          <a:xfrm>
            <a:off x="836612" y="373089"/>
            <a:ext cx="10980737" cy="600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Exhibit – 1.1: Air Quality Snapshot (Jan 2020 – Oct 2025)</a:t>
            </a:r>
            <a:br>
              <a:rPr b="1" lang="en-IN" sz="2800"/>
            </a:br>
            <a:endParaRPr b="1" sz="2800"/>
          </a:p>
        </p:txBody>
      </p:sp>
      <p:sp>
        <p:nvSpPr>
          <p:cNvPr id="267" name="Google Shape;26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12"/>
          <p:cNvSpPr txBox="1"/>
          <p:nvPr>
            <p:ph idx="1" type="body"/>
          </p:nvPr>
        </p:nvSpPr>
        <p:spPr>
          <a:xfrm>
            <a:off x="2199023" y="1598626"/>
            <a:ext cx="9922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800"/>
              <a:buNone/>
            </a:pPr>
            <a:r>
              <a:rPr b="1" lang="en-IN" sz="1800">
                <a:solidFill>
                  <a:srgbClr val="171717"/>
                </a:solidFill>
              </a:rPr>
              <a:t>Insights</a:t>
            </a:r>
            <a:endParaRPr/>
          </a:p>
        </p:txBody>
      </p:sp>
      <p:sp>
        <p:nvSpPr>
          <p:cNvPr id="269" name="Google Shape;26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sp>
        <p:nvSpPr>
          <p:cNvPr id="270" name="Google Shape;270;p12"/>
          <p:cNvSpPr txBox="1"/>
          <p:nvPr/>
        </p:nvSpPr>
        <p:spPr>
          <a:xfrm>
            <a:off x="756003" y="1973288"/>
            <a:ext cx="3878263" cy="1384995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rgbClr val="0015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Mean PM₂.₅ ≈ 146 µg/m³ → 9× WHO limit.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 Severe Days (9 % of total) &gt; 250 µg/m³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2020 → 2025 drop of ~58 % but still unsafe.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coverage inadequate — real-time response lags (Reliability Issues)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 txBox="1"/>
          <p:nvPr/>
        </p:nvSpPr>
        <p:spPr>
          <a:xfrm>
            <a:off x="787238" y="4142473"/>
            <a:ext cx="3753732" cy="138499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Despite measured improvement, Delhi’s PM₂.₅ levels remain 4× above national limits and 9× WHO guidelines.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sharp decline is seen in 2021 because of covid pandemic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2"/>
          <p:cNvSpPr txBox="1"/>
          <p:nvPr/>
        </p:nvSpPr>
        <p:spPr>
          <a:xfrm>
            <a:off x="1816214" y="3735270"/>
            <a:ext cx="1757837" cy="415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800"/>
              <a:buFont typeface="Arial"/>
              <a:buNone/>
            </a:pPr>
            <a:r>
              <a:rPr b="1" lang="en-IN" sz="1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/>
          </a:p>
        </p:txBody>
      </p:sp>
      <p:pic>
        <p:nvPicPr>
          <p:cNvPr id="273" name="Google Shape;2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4680" y="1183494"/>
            <a:ext cx="5683454" cy="46672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274" name="Google Shape;274;p12"/>
          <p:cNvSpPr txBox="1"/>
          <p:nvPr/>
        </p:nvSpPr>
        <p:spPr>
          <a:xfrm>
            <a:off x="5514680" y="5956240"/>
            <a:ext cx="57482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Figure 1 – Yearly average PM₂.₅ for Delhi based on daily citywide PM₂.₅ data (OpenAQ/CPCB, 2020–24); the 2025 value is derived from ITO station daily PM₂.₅ (2025 file) used as a proxy for the citywide average.</a:t>
            </a:r>
            <a:endParaRPr sz="1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12"/>
          <p:cNvCxnSpPr/>
          <p:nvPr/>
        </p:nvCxnSpPr>
        <p:spPr>
          <a:xfrm>
            <a:off x="5043340" y="891539"/>
            <a:ext cx="0" cy="5891814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pic>
        <p:nvPicPr>
          <p:cNvPr id="281" name="Google Shape;2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5094" y="1176038"/>
            <a:ext cx="6149299" cy="421476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282" name="Google Shape;282;p13"/>
          <p:cNvSpPr txBox="1"/>
          <p:nvPr/>
        </p:nvSpPr>
        <p:spPr>
          <a:xfrm>
            <a:off x="671375" y="1599344"/>
            <a:ext cx="3878263" cy="1815882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rgbClr val="0015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Spatial disparity &gt; 4×: Jahangirpuri ≈ 241 µg/m³ vs Pusa ≈ 63 µg/m³.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Five of eight stations exceed 100 µg/m³ average.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sites exceed WHO (15 µg/m³) and India (40 µg/m³) limits.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Persistent hotspots in industrial and traffic-dense zone</a:t>
            </a:r>
            <a:endParaRPr/>
          </a:p>
        </p:txBody>
      </p:sp>
      <p:sp>
        <p:nvSpPr>
          <p:cNvPr id="283" name="Google Shape;283;p13"/>
          <p:cNvSpPr txBox="1"/>
          <p:nvPr/>
        </p:nvSpPr>
        <p:spPr>
          <a:xfrm>
            <a:off x="705910" y="4365595"/>
            <a:ext cx="3809191" cy="156895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Delhi’s air pollution is not uniform — localized emission clusters dominate.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Enforcement and mitigation must be region-specific rather than city-wide.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Highlights the need for spatially coordinated real-time monitoring layers in CLEAN–AIR OS.</a:t>
            </a:r>
            <a:endParaRPr/>
          </a:p>
        </p:txBody>
      </p:sp>
      <p:sp>
        <p:nvSpPr>
          <p:cNvPr id="284" name="Google Shape;284;p13"/>
          <p:cNvSpPr txBox="1"/>
          <p:nvPr/>
        </p:nvSpPr>
        <p:spPr>
          <a:xfrm>
            <a:off x="2089415" y="1234219"/>
            <a:ext cx="10421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800"/>
              <a:buFont typeface="Arial"/>
              <a:buNone/>
            </a:pPr>
            <a:r>
              <a:rPr b="1" lang="en-IN" sz="18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/>
          </a:p>
        </p:txBody>
      </p:sp>
      <p:sp>
        <p:nvSpPr>
          <p:cNvPr id="285" name="Google Shape;285;p13"/>
          <p:cNvSpPr txBox="1"/>
          <p:nvPr/>
        </p:nvSpPr>
        <p:spPr>
          <a:xfrm>
            <a:off x="1721368" y="3950259"/>
            <a:ext cx="1778274" cy="415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800"/>
              <a:buFont typeface="Arial"/>
              <a:buNone/>
            </a:pPr>
            <a:r>
              <a:rPr b="1" lang="en-IN" sz="1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/>
          </a:p>
        </p:txBody>
      </p:sp>
      <p:sp>
        <p:nvSpPr>
          <p:cNvPr id="286" name="Google Shape;286;p13"/>
          <p:cNvSpPr txBox="1"/>
          <p:nvPr/>
        </p:nvSpPr>
        <p:spPr>
          <a:xfrm>
            <a:off x="605631" y="375938"/>
            <a:ext cx="109807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Exhibit – 1.2 – Spatial Inequalities</a:t>
            </a:r>
            <a:b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 txBox="1"/>
          <p:nvPr/>
        </p:nvSpPr>
        <p:spPr>
          <a:xfrm>
            <a:off x="6546098" y="5429373"/>
            <a:ext cx="4187290" cy="505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Figure 2 - BAR CHART – 2025 mean PM₂.₅ by station (ITO, RK Puram, Pusa, Jahangirpuri, Bawana, etc.)</a:t>
            </a:r>
            <a:endParaRPr b="1" i="1" sz="100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13"/>
          <p:cNvCxnSpPr/>
          <p:nvPr/>
        </p:nvCxnSpPr>
        <p:spPr>
          <a:xfrm>
            <a:off x="7237379" y="5009745"/>
            <a:ext cx="0" cy="1188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9" name="Google Shape;289;p13"/>
          <p:cNvCxnSpPr/>
          <p:nvPr/>
        </p:nvCxnSpPr>
        <p:spPr>
          <a:xfrm>
            <a:off x="7237379" y="6198230"/>
            <a:ext cx="106031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0" name="Google Shape;290;p13"/>
          <p:cNvSpPr/>
          <p:nvPr/>
        </p:nvSpPr>
        <p:spPr>
          <a:xfrm>
            <a:off x="8305801" y="6050604"/>
            <a:ext cx="272374" cy="305746"/>
          </a:xfrm>
          <a:prstGeom prst="mathMultiply">
            <a:avLst>
              <a:gd fmla="val 23520" name="adj1"/>
            </a:avLst>
          </a:pr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 txBox="1"/>
          <p:nvPr/>
        </p:nvSpPr>
        <p:spPr>
          <a:xfrm>
            <a:off x="8578175" y="5974231"/>
            <a:ext cx="146077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Neglect Sector 11 – Data Reliability and continuity issue.</a:t>
            </a:r>
            <a:endParaRPr/>
          </a:p>
        </p:txBody>
      </p:sp>
      <p:cxnSp>
        <p:nvCxnSpPr>
          <p:cNvPr id="292" name="Google Shape;292;p13"/>
          <p:cNvCxnSpPr/>
          <p:nvPr/>
        </p:nvCxnSpPr>
        <p:spPr>
          <a:xfrm>
            <a:off x="4996206" y="1093509"/>
            <a:ext cx="0" cy="5104721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8" name="Google Shape;298;p14"/>
          <p:cNvCxnSpPr/>
          <p:nvPr/>
        </p:nvCxnSpPr>
        <p:spPr>
          <a:xfrm>
            <a:off x="5722070" y="385816"/>
            <a:ext cx="0" cy="6138809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9" name="Google Shape;29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sp>
        <p:nvSpPr>
          <p:cNvPr id="300" name="Google Shape;300;p14"/>
          <p:cNvSpPr txBox="1"/>
          <p:nvPr/>
        </p:nvSpPr>
        <p:spPr>
          <a:xfrm>
            <a:off x="371474" y="236099"/>
            <a:ext cx="5082173" cy="6191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Exhibit – 1.3 – Air Pollution As Public Health Emergency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b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</a:t>
            </a:r>
            <a:endParaRPr b="1"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-up of a card&#10;&#10;AI-generated content may be incorrect." id="301" name="Google Shape;3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9755" y="1107672"/>
            <a:ext cx="5760770" cy="211264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A graph of a number of people&#10;&#10;AI-generated content may be incorrect." id="302" name="Google Shape;3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9755" y="3921550"/>
            <a:ext cx="5760770" cy="177364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303" name="Google Shape;303;p14"/>
          <p:cNvSpPr txBox="1"/>
          <p:nvPr/>
        </p:nvSpPr>
        <p:spPr>
          <a:xfrm>
            <a:off x="494024" y="2493708"/>
            <a:ext cx="4959623" cy="110799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“Air pollution is a public health emergency hiding in plain sight.”</a:t>
            </a:r>
            <a:endParaRPr b="1"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1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— Jane Burston, Clean Air Fund </a:t>
            </a:r>
            <a:r>
              <a:rPr b="1" i="1" lang="en-IN" sz="10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Health Policy Wat</a:t>
            </a:r>
            <a:endParaRPr b="1" i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 txBox="1"/>
          <p:nvPr/>
        </p:nvSpPr>
        <p:spPr>
          <a:xfrm>
            <a:off x="6846495" y="3358210"/>
            <a:ext cx="4187290" cy="385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Figure 3 : India already sees ~70 deaths per 100,000 people linked to fine particulate pollution. Source : AQI.in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1" i="1" sz="900">
              <a:solidFill>
                <a:srgbClr val="1717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 txBox="1"/>
          <p:nvPr/>
        </p:nvSpPr>
        <p:spPr>
          <a:xfrm>
            <a:off x="6846495" y="5806605"/>
            <a:ext cx="4187290" cy="594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Figure 4 : – Health impacts are not abstract: chronic respiratory disease, lower respiratory infections, heart disease, and stroke together account for &gt;75% of pollution-linked deaths. Source: AQI.in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1" i="1" sz="900">
              <a:solidFill>
                <a:srgbClr val="1717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>
            <a:off x="432748" y="4403375"/>
            <a:ext cx="4959623" cy="95410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Air Pollution Kills Silently -  “but the data exposes the emergency”</a:t>
            </a: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"/>
          <p:cNvSpPr txBox="1"/>
          <p:nvPr>
            <p:ph idx="11" type="ftr"/>
          </p:nvPr>
        </p:nvSpPr>
        <p:spPr>
          <a:xfrm>
            <a:off x="4098304" y="65246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371475" y="399363"/>
            <a:ext cx="5133779" cy="61912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– 2 – ANATOMY OF THE PROBLEM</a:t>
            </a:r>
            <a:endParaRPr/>
          </a:p>
        </p:txBody>
      </p:sp>
      <p:sp>
        <p:nvSpPr>
          <p:cNvPr id="313" name="Google Shape;313;p16"/>
          <p:cNvSpPr/>
          <p:nvPr/>
        </p:nvSpPr>
        <p:spPr>
          <a:xfrm>
            <a:off x="7211505" y="291249"/>
            <a:ext cx="4609020" cy="61912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QUOTE AND IMAGE</a:t>
            </a:r>
            <a:endParaRPr/>
          </a:p>
        </p:txBody>
      </p:sp>
      <p:cxnSp>
        <p:nvCxnSpPr>
          <p:cNvPr id="314" name="Google Shape;314;p16"/>
          <p:cNvCxnSpPr/>
          <p:nvPr/>
        </p:nvCxnSpPr>
        <p:spPr>
          <a:xfrm>
            <a:off x="6806153" y="333375"/>
            <a:ext cx="0" cy="6191250"/>
          </a:xfrm>
          <a:prstGeom prst="straightConnector1">
            <a:avLst/>
          </a:prstGeom>
          <a:noFill/>
          <a:ln cap="flat" cmpd="sng" w="19050">
            <a:solidFill>
              <a:srgbClr val="AEAEAE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"/>
          <p:cNvSpPr txBox="1"/>
          <p:nvPr>
            <p:ph type="title"/>
          </p:nvPr>
        </p:nvSpPr>
        <p:spPr>
          <a:xfrm>
            <a:off x="836612" y="373089"/>
            <a:ext cx="109807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Exhibit – 2.2 Excavating The Pain Points (Distribution)</a:t>
            </a:r>
            <a:br>
              <a:rPr b="1" lang="en-IN" sz="2800"/>
            </a:br>
            <a:endParaRPr b="1" sz="2800"/>
          </a:p>
        </p:txBody>
      </p:sp>
      <p:sp>
        <p:nvSpPr>
          <p:cNvPr id="321" name="Google Shape;321;p17"/>
          <p:cNvSpPr/>
          <p:nvPr>
            <p:ph idx="2" type="pic"/>
          </p:nvPr>
        </p:nvSpPr>
        <p:spPr>
          <a:xfrm>
            <a:off x="5183188" y="1379056"/>
            <a:ext cx="6172200" cy="4481994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17"/>
          <p:cNvSpPr txBox="1"/>
          <p:nvPr>
            <p:ph idx="1" type="body"/>
          </p:nvPr>
        </p:nvSpPr>
        <p:spPr>
          <a:xfrm>
            <a:off x="2211195" y="1196493"/>
            <a:ext cx="9922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800"/>
              <a:buNone/>
            </a:pPr>
            <a:r>
              <a:rPr b="1" lang="en-IN" sz="1800">
                <a:solidFill>
                  <a:srgbClr val="171717"/>
                </a:solidFill>
              </a:rPr>
              <a:t>Insights</a:t>
            </a:r>
            <a:endParaRPr/>
          </a:p>
        </p:txBody>
      </p:sp>
      <p:sp>
        <p:nvSpPr>
          <p:cNvPr id="323" name="Google Shape;32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sp>
        <p:nvSpPr>
          <p:cNvPr id="324" name="Google Shape;324;p17"/>
          <p:cNvSpPr txBox="1"/>
          <p:nvPr/>
        </p:nvSpPr>
        <p:spPr>
          <a:xfrm>
            <a:off x="692871" y="1539533"/>
            <a:ext cx="4114799" cy="1815882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rgbClr val="0015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Transport + road dust = the dominant slice</a:t>
            </a:r>
            <a:r>
              <a:rPr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across all four studies – the first lever, every time.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Industry + power stacks stay in the top tier</a:t>
            </a:r>
            <a:r>
              <a:rPr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contributors wherever the industrial belt is in scope.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Residential fuel, biomass burning and construction</a:t>
            </a:r>
            <a:r>
              <a:rPr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form a stubborn “background smoke” that never fully disappears.</a:t>
            </a:r>
            <a:endParaRPr/>
          </a:p>
        </p:txBody>
      </p:sp>
      <p:sp>
        <p:nvSpPr>
          <p:cNvPr id="325" name="Google Shape;325;p17"/>
          <p:cNvSpPr txBox="1"/>
          <p:nvPr/>
        </p:nvSpPr>
        <p:spPr>
          <a:xfrm>
            <a:off x="818268" y="4113791"/>
            <a:ext cx="3753732" cy="204169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Tackling spikes (biomass, construction) without lowering the residential “background” will never deliver truly clean days – both must be managed together. </a:t>
            </a:r>
            <a:endParaRPr/>
          </a:p>
          <a:p>
            <a:pPr indent="-285750" lvl="0" marL="285750" marR="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Stack controls in industrial belts are necessary, but not sufficient, for clean air.</a:t>
            </a:r>
            <a:endParaRPr/>
          </a:p>
          <a:p>
            <a:pPr indent="-285750" lvl="0" marL="285750" marR="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we don’t fix vehicles and road dust, nothing else will move the needle.</a:t>
            </a:r>
            <a:endParaRPr/>
          </a:p>
        </p:txBody>
      </p:sp>
      <p:sp>
        <p:nvSpPr>
          <p:cNvPr id="326" name="Google Shape;326;p17"/>
          <p:cNvSpPr txBox="1"/>
          <p:nvPr/>
        </p:nvSpPr>
        <p:spPr>
          <a:xfrm>
            <a:off x="1816216" y="3698455"/>
            <a:ext cx="1757837" cy="415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800"/>
              <a:buFont typeface="Arial"/>
              <a:buNone/>
            </a:pPr>
            <a:r>
              <a:rPr b="1" lang="en-IN" sz="1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/>
          </a:p>
        </p:txBody>
      </p:sp>
      <p:cxnSp>
        <p:nvCxnSpPr>
          <p:cNvPr id="327" name="Google Shape;327;p17"/>
          <p:cNvCxnSpPr/>
          <p:nvPr/>
        </p:nvCxnSpPr>
        <p:spPr>
          <a:xfrm>
            <a:off x="4986779" y="1313473"/>
            <a:ext cx="0" cy="4769963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graph of different colored squares&#10;&#10;AI-generated content may be incorrect." id="328" name="Google Shape;3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6388" y="1467500"/>
            <a:ext cx="6085800" cy="411365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329" name="Google Shape;329;p17"/>
          <p:cNvSpPr txBox="1"/>
          <p:nvPr/>
        </p:nvSpPr>
        <p:spPr>
          <a:xfrm>
            <a:off x="5226386" y="5650746"/>
            <a:ext cx="6085799" cy="75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6 - </a:t>
            </a:r>
            <a:r>
              <a:rPr i="1"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Exhibit 2.2 — Delhi’s PM₂.₅ Source Contribution is Consistently Multi-Sectoral: Across four independent studies (IIT-Kanpur 2016, Guttikunda 2018, SAFAR 2018, TERI 2018), road dust, transport emissions, residential/biomass burning, and secondary areas.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7"/>
          <p:cNvSpPr txBox="1"/>
          <p:nvPr/>
        </p:nvSpPr>
        <p:spPr>
          <a:xfrm>
            <a:off x="6165386" y="951662"/>
            <a:ext cx="4362430" cy="3618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 tip : Precision in distribution + correlation is the single biggest unlock for sustainable, city-wide scaling.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1" i="1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"/>
          <p:cNvSpPr txBox="1"/>
          <p:nvPr>
            <p:ph type="title"/>
          </p:nvPr>
        </p:nvSpPr>
        <p:spPr>
          <a:xfrm>
            <a:off x="371475" y="365125"/>
            <a:ext cx="11449049" cy="766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Exhibit 2.3 – Inner Circle – Who Spikes When it spikes (Correlation)</a:t>
            </a:r>
            <a:endParaRPr/>
          </a:p>
        </p:txBody>
      </p:sp>
      <p:sp>
        <p:nvSpPr>
          <p:cNvPr id="336" name="Google Shape;33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pic>
        <p:nvPicPr>
          <p:cNvPr descr="A screenshot of a graph&#10;&#10;AI-generated content may be incorrect." id="337" name="Google Shape;3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2329" y="1264009"/>
            <a:ext cx="4792811" cy="262457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338" name="Google Shape;338;p18"/>
          <p:cNvSpPr txBox="1"/>
          <p:nvPr/>
        </p:nvSpPr>
        <p:spPr>
          <a:xfrm>
            <a:off x="7542071" y="1657993"/>
            <a:ext cx="4114799" cy="1600438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rgbClr val="0015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PM₂.₅ travels with PM₁₀ and CO, not with NOₓ</a:t>
            </a:r>
            <a:r>
              <a:rPr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– two clear pollutant “families” show up.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NO, NO₂ and NOₓ move almost perfectly together</a:t>
            </a:r>
            <a:r>
              <a:rPr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while </a:t>
            </a: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O₃ moves in the opposite direction</a:t>
            </a:r>
            <a:r>
              <a:rPr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SO₂ is weakly linked to everything</a:t>
            </a:r>
            <a:r>
              <a:rPr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suggesting a minor role at ITO in 2025.</a:t>
            </a:r>
            <a:endParaRPr/>
          </a:p>
        </p:txBody>
      </p:sp>
      <p:sp>
        <p:nvSpPr>
          <p:cNvPr id="339" name="Google Shape;339;p18"/>
          <p:cNvSpPr txBox="1"/>
          <p:nvPr/>
        </p:nvSpPr>
        <p:spPr>
          <a:xfrm>
            <a:off x="7722604" y="3987050"/>
            <a:ext cx="3753732" cy="2236969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Dust + dirty combustion controls (PM₂.₅/PM₁₀/CO) will deliver more health gain</a:t>
            </a:r>
            <a:r>
              <a:rPr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here than NOₓ-only measures.</a:t>
            </a:r>
            <a:endParaRPr/>
          </a:p>
          <a:p>
            <a:pPr indent="-285750" lvl="0" marL="285750" marR="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NOₓ compliance alone won’t guarantee PM₂.₅ improvement – CLEAN–AIR OS must track PM-specific levers in parallel.</a:t>
            </a:r>
            <a:endParaRPr/>
          </a:p>
          <a:p>
            <a:pPr indent="-285750" lvl="0" marL="285750" marR="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These correlation clusters are “event fingerprints” we can use to classify spikes and trigger the right agencies fast.</a:t>
            </a:r>
            <a:endParaRPr/>
          </a:p>
        </p:txBody>
      </p:sp>
      <p:sp>
        <p:nvSpPr>
          <p:cNvPr id="340" name="Google Shape;340;p18"/>
          <p:cNvSpPr txBox="1"/>
          <p:nvPr/>
        </p:nvSpPr>
        <p:spPr>
          <a:xfrm>
            <a:off x="8995745" y="1328528"/>
            <a:ext cx="13898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800"/>
              <a:buFont typeface="Arial"/>
              <a:buNone/>
            </a:pPr>
            <a:r>
              <a:rPr b="1" lang="en-IN" sz="18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/>
          </a:p>
        </p:txBody>
      </p:sp>
      <p:sp>
        <p:nvSpPr>
          <p:cNvPr id="341" name="Google Shape;341;p18"/>
          <p:cNvSpPr txBox="1"/>
          <p:nvPr/>
        </p:nvSpPr>
        <p:spPr>
          <a:xfrm>
            <a:off x="8903746" y="3587896"/>
            <a:ext cx="1573841" cy="415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800"/>
              <a:buFont typeface="Calibri"/>
              <a:buNone/>
            </a:pPr>
            <a:r>
              <a:rPr b="1" lang="en-IN" sz="18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/>
          </a:p>
        </p:txBody>
      </p:sp>
      <p:pic>
        <p:nvPicPr>
          <p:cNvPr id="342" name="Google Shape;34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16864" y="4229597"/>
            <a:ext cx="3991532" cy="201958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cxnSp>
        <p:nvCxnSpPr>
          <p:cNvPr id="343" name="Google Shape;343;p18"/>
          <p:cNvCxnSpPr/>
          <p:nvPr/>
        </p:nvCxnSpPr>
        <p:spPr>
          <a:xfrm>
            <a:off x="6683605" y="1328528"/>
            <a:ext cx="0" cy="4895491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4" name="Google Shape;344;p18"/>
          <p:cNvSpPr/>
          <p:nvPr/>
        </p:nvSpPr>
        <p:spPr>
          <a:xfrm>
            <a:off x="1450158" y="3918247"/>
            <a:ext cx="3657599" cy="31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Figure 7 - Pollutant Correlation Matrix (ITO, 2025)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FCFE"/>
            </a:gs>
            <a:gs pos="52000">
              <a:srgbClr val="C5E6F6"/>
            </a:gs>
            <a:gs pos="54000">
              <a:srgbClr val="D9EEF8"/>
            </a:gs>
            <a:gs pos="78000">
              <a:srgbClr val="C5E6F6"/>
            </a:gs>
            <a:gs pos="100000">
              <a:srgbClr val="C5E6F6"/>
            </a:gs>
          </a:gsLst>
          <a:lin ang="5400000" scaled="0"/>
        </a:gra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sp>
        <p:nvSpPr>
          <p:cNvPr id="350" name="Google Shape;350;p19"/>
          <p:cNvSpPr txBox="1"/>
          <p:nvPr/>
        </p:nvSpPr>
        <p:spPr>
          <a:xfrm>
            <a:off x="697584" y="650449"/>
            <a:ext cx="10982226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– 3 – Blueprint Towards clean air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sp>
        <p:nvSpPr>
          <p:cNvPr id="356" name="Google Shape;356;p20"/>
          <p:cNvSpPr txBox="1"/>
          <p:nvPr/>
        </p:nvSpPr>
        <p:spPr>
          <a:xfrm>
            <a:off x="480767" y="405354"/>
            <a:ext cx="109445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Exhibit 3.3 : ANALYTICS STACK (THE BRAIN)</a:t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4411743" y="1348737"/>
            <a:ext cx="3148553" cy="820132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ctr" dir="5400000" dist="50800">
              <a:srgbClr val="000000">
                <a:alpha val="9568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City Command Room Dashboard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Ward level action views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Hotspot Detection + forecasts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194C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rgbClr val="00194C"/>
                </a:solidFill>
                <a:latin typeface="Calibri"/>
                <a:ea typeface="Calibri"/>
                <a:cs typeface="Calibri"/>
                <a:sym typeface="Calibri"/>
              </a:rPr>
              <a:t>SLA scorecards</a:t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4378750" y="2560491"/>
            <a:ext cx="3148553" cy="820132"/>
          </a:xfrm>
          <a:prstGeom prst="roundRect">
            <a:avLst>
              <a:gd fmla="val 16667" name="adj"/>
            </a:avLst>
          </a:prstGeom>
          <a:solidFill>
            <a:srgbClr val="F2A982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ctr" dir="5400000" dist="508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194C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rgbClr val="00194C"/>
                </a:solidFill>
                <a:latin typeface="Calibri"/>
                <a:ea typeface="Calibri"/>
                <a:cs typeface="Calibri"/>
                <a:sym typeface="Calibri"/>
              </a:rPr>
              <a:t>SLA Triggers </a:t>
            </a: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 Threshold creation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Escalation Logic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Lever Mapping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 agency coordination rulebook</a:t>
            </a:r>
            <a:endParaRPr/>
          </a:p>
        </p:txBody>
      </p:sp>
      <p:sp>
        <p:nvSpPr>
          <p:cNvPr id="359" name="Google Shape;359;p20"/>
          <p:cNvSpPr/>
          <p:nvPr/>
        </p:nvSpPr>
        <p:spPr>
          <a:xfrm>
            <a:off x="4411743" y="3854017"/>
            <a:ext cx="3148553" cy="898957"/>
          </a:xfrm>
          <a:prstGeom prst="roundRect">
            <a:avLst>
              <a:gd fmla="val 16667" name="adj"/>
            </a:avLst>
          </a:prstGeom>
          <a:solidFill>
            <a:srgbClr val="B3E5A0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ctr" dir="5400000" dist="508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Source attribution + </a:t>
            </a:r>
            <a:r>
              <a:rPr b="1" lang="en-IN" sz="1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fingerprinting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Forecasting + categorical emissions tracking + escalation index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Hotspot + spike recognition + impact scoring</a:t>
            </a:r>
            <a:endParaRPr/>
          </a:p>
        </p:txBody>
      </p:sp>
      <p:sp>
        <p:nvSpPr>
          <p:cNvPr id="360" name="Google Shape;360;p20"/>
          <p:cNvSpPr/>
          <p:nvPr/>
        </p:nvSpPr>
        <p:spPr>
          <a:xfrm>
            <a:off x="4378750" y="5128949"/>
            <a:ext cx="3148553" cy="82013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ctr" dir="5400000" dist="508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Time series alignment and spatial indexing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Missing value repair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en-I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 - Source stitching + </a:t>
            </a:r>
            <a:r>
              <a:rPr b="1" lang="en-IN" sz="1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Golder Hour Record</a:t>
            </a:r>
            <a:endParaRPr/>
          </a:p>
        </p:txBody>
      </p:sp>
      <p:sp>
        <p:nvSpPr>
          <p:cNvPr id="361" name="Google Shape;361;p20"/>
          <p:cNvSpPr txBox="1"/>
          <p:nvPr/>
        </p:nvSpPr>
        <p:spPr>
          <a:xfrm>
            <a:off x="7873739" y="6206425"/>
            <a:ext cx="467333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➡ </a:t>
            </a:r>
            <a:r>
              <a:rPr b="1"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“Golden Hour = hourly gold-standard dataset (clean, fused, aligned).”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" name="Google Shape;362;p20"/>
          <p:cNvCxnSpPr/>
          <p:nvPr/>
        </p:nvCxnSpPr>
        <p:spPr>
          <a:xfrm rot="10800000">
            <a:off x="5920033" y="4752975"/>
            <a:ext cx="0" cy="375974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3" name="Google Shape;363;p20"/>
          <p:cNvCxnSpPr/>
          <p:nvPr/>
        </p:nvCxnSpPr>
        <p:spPr>
          <a:xfrm rot="10800000">
            <a:off x="5920033" y="3362735"/>
            <a:ext cx="9426" cy="49128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4" name="Google Shape;364;p20"/>
          <p:cNvCxnSpPr/>
          <p:nvPr/>
        </p:nvCxnSpPr>
        <p:spPr>
          <a:xfrm rot="10800000">
            <a:off x="5929459" y="2168869"/>
            <a:ext cx="0" cy="375974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5" name="Google Shape;365;p20"/>
          <p:cNvSpPr/>
          <p:nvPr/>
        </p:nvSpPr>
        <p:spPr>
          <a:xfrm>
            <a:off x="7639050" y="1541043"/>
            <a:ext cx="952500" cy="31144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7639050" y="4140973"/>
            <a:ext cx="952500" cy="24622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3238500" y="2762250"/>
            <a:ext cx="1025950" cy="293981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3238499" y="5435453"/>
            <a:ext cx="1054525" cy="29398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37556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 txBox="1"/>
          <p:nvPr/>
        </p:nvSpPr>
        <p:spPr>
          <a:xfrm>
            <a:off x="8579399" y="1501597"/>
            <a:ext cx="16690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LAYER</a:t>
            </a:r>
            <a:endParaRPr/>
          </a:p>
        </p:txBody>
      </p:sp>
      <p:sp>
        <p:nvSpPr>
          <p:cNvPr id="370" name="Google Shape;370;p20"/>
          <p:cNvSpPr txBox="1"/>
          <p:nvPr/>
        </p:nvSpPr>
        <p:spPr>
          <a:xfrm>
            <a:off x="8579399" y="4079417"/>
            <a:ext cx="2438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ANALYTICAL ENGINE</a:t>
            </a:r>
            <a:endParaRPr/>
          </a:p>
        </p:txBody>
      </p:sp>
      <p:sp>
        <p:nvSpPr>
          <p:cNvPr id="371" name="Google Shape;371;p20"/>
          <p:cNvSpPr txBox="1"/>
          <p:nvPr/>
        </p:nvSpPr>
        <p:spPr>
          <a:xfrm>
            <a:off x="1177321" y="5398311"/>
            <a:ext cx="2438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PREPARATION</a:t>
            </a:r>
            <a:endParaRPr/>
          </a:p>
        </p:txBody>
      </p:sp>
      <p:sp>
        <p:nvSpPr>
          <p:cNvPr id="372" name="Google Shape;372;p20"/>
          <p:cNvSpPr txBox="1"/>
          <p:nvPr/>
        </p:nvSpPr>
        <p:spPr>
          <a:xfrm>
            <a:off x="1463904" y="2724574"/>
            <a:ext cx="2438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 CREATION</a:t>
            </a:r>
            <a:endParaRPr/>
          </a:p>
        </p:txBody>
      </p:sp>
      <p:sp>
        <p:nvSpPr>
          <p:cNvPr id="373" name="Google Shape;373;p20"/>
          <p:cNvSpPr/>
          <p:nvPr/>
        </p:nvSpPr>
        <p:spPr>
          <a:xfrm>
            <a:off x="802448" y="3472558"/>
            <a:ext cx="2092747" cy="133683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dk1"/>
          </a:solidFill>
          <a:ln cap="flat" cmpd="sng" w="19050">
            <a:solidFill>
              <a:srgbClr val="00154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28600" rotWithShape="0" algn="ctr" dir="5400000" dist="508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Strengthening these highlighted logic layers ensures we don’t fall into the “AI hype trap” and instead build a system that is predictable, explainable, and government-ready for the future</a:t>
            </a:r>
            <a:endParaRPr b="1" sz="800">
              <a:solidFill>
                <a:srgbClr val="0019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7873739" y="6052498"/>
            <a:ext cx="467333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➡ Fingerprinting = Comparing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 txBox="1"/>
          <p:nvPr/>
        </p:nvSpPr>
        <p:spPr>
          <a:xfrm>
            <a:off x="7873739" y="5902573"/>
            <a:ext cx="467333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➡ SLA Triggers = Bible + Geeta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 txBox="1"/>
          <p:nvPr/>
        </p:nvSpPr>
        <p:spPr>
          <a:xfrm>
            <a:off x="7869174" y="5752602"/>
            <a:ext cx="467333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➡ SLA Scorecards = A matrix by which our bible can learn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FCFE"/>
            </a:gs>
            <a:gs pos="30000">
              <a:srgbClr val="CCE9F7"/>
            </a:gs>
            <a:gs pos="47000">
              <a:schemeClr val="lt1"/>
            </a:gs>
            <a:gs pos="100000">
              <a:srgbClr val="CCE9F7"/>
            </a:gs>
          </a:gsLst>
          <a:lin ang="5400000" scaled="0"/>
        </a:gra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sp>
        <p:nvSpPr>
          <p:cNvPr id="382" name="Google Shape;382;p21"/>
          <p:cNvSpPr txBox="1"/>
          <p:nvPr/>
        </p:nvSpPr>
        <p:spPr>
          <a:xfrm>
            <a:off x="604887" y="414779"/>
            <a:ext cx="10982226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– 4 – SCALABLITY AND EXECUTION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sp>
        <p:nvSpPr>
          <p:cNvPr id="388" name="Google Shape;388;p22"/>
          <p:cNvSpPr txBox="1"/>
          <p:nvPr/>
        </p:nvSpPr>
        <p:spPr>
          <a:xfrm>
            <a:off x="371475" y="333375"/>
            <a:ext cx="1144905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Exhibit 4.1 – SCALABLITY AND ITS DEPENDENCE ON ACCURATE LEVERS ATTRIBUTION</a:t>
            </a:r>
            <a:endParaRPr/>
          </a:p>
        </p:txBody>
      </p:sp>
      <p:graphicFrame>
        <p:nvGraphicFramePr>
          <p:cNvPr id="389" name="Google Shape;389;p22"/>
          <p:cNvGraphicFramePr/>
          <p:nvPr/>
        </p:nvGraphicFramePr>
        <p:xfrm>
          <a:off x="1915211" y="15213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{4F68FD42-1494-48CA-82DF-4131873CD06C}</a:tableStyleId>
              </a:tblPr>
              <a:tblGrid>
                <a:gridCol w="2709325"/>
                <a:gridCol w="2709325"/>
                <a:gridCol w="2709325"/>
              </a:tblGrid>
              <a:tr h="807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00194C"/>
                          </a:solidFill>
                        </a:rPr>
                        <a:t>Insights from Chapter 2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002672"/>
                          </a:solidFill>
                        </a:rPr>
                        <a:t>What it means (Lever Logic)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002672"/>
                          </a:solidFill>
                        </a:rPr>
                        <a:t>What must scale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696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2672"/>
                          </a:solidFill>
                        </a:rPr>
                        <a:t>Transport + road Dust domination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002672"/>
                          </a:solidFill>
                        </a:rPr>
                        <a:t>Stable, repeatable levers : will behave uniformly 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002672"/>
                          </a:solidFill>
                        </a:rPr>
                        <a:t>SLA Logic, AQI Logic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994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002672"/>
                          </a:solidFill>
                        </a:rPr>
                        <a:t>Industrial belts (Nitrogen family)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002672"/>
                          </a:solidFill>
                        </a:rPr>
                        <a:t>Zone specific levers : requires building zonal logic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002672"/>
                          </a:solidFill>
                        </a:rPr>
                        <a:t>Zonal Attribution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002672"/>
                          </a:solidFill>
                        </a:rPr>
                        <a:t>Cross ward Hotspot Detection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46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002672"/>
                          </a:solidFill>
                        </a:rPr>
                        <a:t>Construction + waste burning + chimney stacks 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002672"/>
                          </a:solidFill>
                        </a:rPr>
                        <a:t>Local, unpredictable : requires dense sensor network + fast detection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002672"/>
                          </a:solidFill>
                        </a:rPr>
                        <a:t>Local Node Gateways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002672"/>
                          </a:solidFill>
                        </a:rPr>
                        <a:t>Spike Rules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46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002672"/>
                          </a:solidFill>
                        </a:rPr>
                        <a:t>Long Tail Stabilization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002672"/>
                          </a:solidFill>
                        </a:rPr>
                        <a:t>Neglect the residential plus approved construction sites after identifying major levers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002672"/>
                          </a:solidFill>
                        </a:rPr>
                        <a:t>City OS Layer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002672"/>
                          </a:solidFill>
                        </a:rPr>
                        <a:t>Golden Hour Record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002672"/>
                          </a:solidFill>
                        </a:rPr>
                        <a:t>City Layer SLA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sp>
        <p:nvSpPr>
          <p:cNvPr id="395" name="Google Shape;395;p23"/>
          <p:cNvSpPr txBox="1"/>
          <p:nvPr/>
        </p:nvSpPr>
        <p:spPr>
          <a:xfrm>
            <a:off x="371475" y="333375"/>
            <a:ext cx="114490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Exhibit 4.2 – WHAT INCREASES, WHAT STABILIZES </a:t>
            </a:r>
            <a:endParaRPr/>
          </a:p>
        </p:txBody>
      </p:sp>
      <p:graphicFrame>
        <p:nvGraphicFramePr>
          <p:cNvPr id="396" name="Google Shape;396;p23"/>
          <p:cNvGraphicFramePr/>
          <p:nvPr/>
        </p:nvGraphicFramePr>
        <p:xfrm>
          <a:off x="1768048" y="13509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{4F68FD42-1494-48CA-82DF-4131873CD06C}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rgbClr val="002672"/>
                          </a:solidFill>
                        </a:rPr>
                        <a:t>Category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rgbClr val="002672"/>
                          </a:solidFill>
                        </a:rPr>
                        <a:t>Ward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rgbClr val="002672"/>
                          </a:solidFill>
                        </a:rPr>
                        <a:t>Zone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rgbClr val="002672"/>
                          </a:solidFill>
                        </a:rPr>
                        <a:t>City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rgbClr val="002672"/>
                          </a:solidFill>
                        </a:rPr>
                        <a:t>What Normalizes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Sensors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10-20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50-100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500-700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Device Templates, Metadata rules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Gateways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4-5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35-50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Gateway Protocols + data schema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Alerts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5-15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30-60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200-400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Trigger rules +SLAs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Agencies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2-3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5+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10-12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Governance Structure + Response SLAs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Command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Ward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Zonal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City OS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Dashboards + Escalation Matrix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Data Volume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Ward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Zonal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City OS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002672"/>
                          </a:solidFill>
                        </a:rPr>
                        <a:t>Dashboards + Escalation Matrix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by: Aditya Shroff</a:t>
            </a:r>
            <a:endParaRPr/>
          </a:p>
        </p:txBody>
      </p:sp>
      <p:sp>
        <p:nvSpPr>
          <p:cNvPr id="402" name="Google Shape;402;p24"/>
          <p:cNvSpPr txBox="1"/>
          <p:nvPr/>
        </p:nvSpPr>
        <p:spPr>
          <a:xfrm>
            <a:off x="371475" y="333375"/>
            <a:ext cx="114490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Exhibit 4.3 – THE CLEAN – AIR OS SUSTAINABLITY MODEL</a:t>
            </a:r>
            <a:endParaRPr/>
          </a:p>
        </p:txBody>
      </p:sp>
      <p:graphicFrame>
        <p:nvGraphicFramePr>
          <p:cNvPr id="403" name="Google Shape;403;p24"/>
          <p:cNvGraphicFramePr/>
          <p:nvPr/>
        </p:nvGraphicFramePr>
        <p:xfrm>
          <a:off x="617981" y="13857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{4F68FD42-1494-48CA-82DF-4131873CD06C}</a:tableStyleId>
              </a:tblPr>
              <a:tblGrid>
                <a:gridCol w="1893100"/>
                <a:gridCol w="5718525"/>
              </a:tblGrid>
              <a:tr h="509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002060"/>
                          </a:solidFill>
                        </a:rPr>
                        <a:t>PILLARS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002060"/>
                          </a:solidFill>
                        </a:rPr>
                        <a:t>METHOS DO WE SUSTAIN THE SYSTEM 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42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chemeClr val="accent2"/>
                          </a:solidFill>
                        </a:rPr>
                        <a:t>1. Revenue Engine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chemeClr val="accent2"/>
                          </a:solidFill>
                        </a:rPr>
                        <a:t>Data Apis (mobility, weather, health tech)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42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>
                        <a:solidFill>
                          <a:schemeClr val="accent2"/>
                        </a:solidFill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chemeClr val="accent2"/>
                          </a:solidFill>
                        </a:rPr>
                        <a:t>Premium sensor meshes for high rises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42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>
                        <a:solidFill>
                          <a:schemeClr val="accent2"/>
                        </a:solidFill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chemeClr val="accent2"/>
                          </a:solidFill>
                        </a:rPr>
                        <a:t>OS Layer Licensing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42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/>
                        <a:t>2. Operating efficiency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/>
                        <a:t>Shared SLA across agencies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5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/>
                        <a:t>Edge – Gateway -  data lake architecture lowers cost 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4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/>
                        <a:t>Digital compliance and Fines (OPEX)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5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275316"/>
                          </a:solidFill>
                        </a:rPr>
                        <a:t>3. Strategic Expansion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275316"/>
                          </a:solidFill>
                        </a:rPr>
                        <a:t>Talent and Resource sharing to other cities and countries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5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>
                        <a:solidFill>
                          <a:srgbClr val="275316"/>
                        </a:solidFill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275316"/>
                          </a:solidFill>
                        </a:rPr>
                        <a:t>Clean – Air Academy training + certifications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5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>
                        <a:solidFill>
                          <a:srgbClr val="275316"/>
                        </a:solidFill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275316"/>
                          </a:solidFill>
                        </a:rPr>
                        <a:t>Annual SLA Report + Transparency to assure Grants + Global Funding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sp>
        <p:nvSpPr>
          <p:cNvPr id="404" name="Google Shape;404;p24"/>
          <p:cNvSpPr/>
          <p:nvPr/>
        </p:nvSpPr>
        <p:spPr>
          <a:xfrm>
            <a:off x="8625525" y="1885361"/>
            <a:ext cx="2948493" cy="1432874"/>
          </a:xfrm>
          <a:prstGeom prst="rect">
            <a:avLst/>
          </a:prstGeom>
          <a:gradFill>
            <a:gsLst>
              <a:gs pos="0">
                <a:srgbClr val="C6E5F6"/>
              </a:gs>
              <a:gs pos="50000">
                <a:srgbClr val="B6DEF3"/>
              </a:gs>
              <a:gs pos="100000">
                <a:srgbClr val="AADBF4"/>
              </a:gs>
            </a:gsLst>
            <a:lin ang="5400000" scaled="0"/>
          </a:gra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Government pays for stability, private players play for precision and scale and the OS funds itself </a:t>
            </a:r>
            <a:endParaRPr/>
          </a:p>
        </p:txBody>
      </p:sp>
      <p:sp>
        <p:nvSpPr>
          <p:cNvPr id="405" name="Google Shape;405;p24"/>
          <p:cNvSpPr txBox="1"/>
          <p:nvPr/>
        </p:nvSpPr>
        <p:spPr>
          <a:xfrm>
            <a:off x="9558779" y="1555423"/>
            <a:ext cx="14800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3">
      <a:dk1>
        <a:srgbClr val="003399"/>
      </a:dk1>
      <a:lt1>
        <a:srgbClr val="FFFFFF"/>
      </a:lt1>
      <a:dk2>
        <a:srgbClr val="0E2841"/>
      </a:dk2>
      <a:lt2>
        <a:srgbClr val="E8E8E8"/>
      </a:lt2>
      <a:accent1>
        <a:srgbClr val="83CAEB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2025-11-13T17:53:59Z</dcterms:created>
  <dc:creator>Aditya Shroff</dc:creator>
</cp:coreProperties>
</file>